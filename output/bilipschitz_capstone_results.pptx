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2" r:id="rId12"/>
    <p:sldId id="263" r:id="rId13"/>
    <p:sldId id="264" r:id="rId14"/>
    <p:sldId id="265" r:id="rId15"/>
    <p:sldId id="266" r:id="rId16"/>
    <p:sldId id="267" r:id="rId17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4fbee50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4fbee50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stages. Stage 1 reproduces Table 1 of Yao et al. 2021 with the upstream code. Stage 2 swaps the inner-product (Gram) block of the 30 scalar features for its matrix square root, which is bilipschitz, and tunes the models. Stage 3 adds Gaussian noise; the adversarial attack is the next step.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4fbee50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4fbee50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task and data are exactly those of Yao et al. 2021. The scalar method feeds 30 O(3)-invariant scalars to an MLP. The 16 Gram entries are the only features that the bilipschitz embedder replaces, so the comparison isolates the embedding.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4fbee50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4fbee50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square root of the Gram matrix is bilipschitz with respect to the Procrustes distance, with constants 1 and sqrt 2. The histogram checks this numerically. The 4x4 Gram matrix has rank 3, so we never take the square root of its eigenvalues directly: the thin SVD of X gives the same matrix and has finite derivatives.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4fbee50c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4fbee50c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4fbee50c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4fbee50c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the upstream Hamiltonian and hyperparameters, the N-ODE matches the paper within one standard deviation and the HNN is within a factor 2. The branch had a modified Hamiltonian, so all older caches were regenerated.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ReLU the bilipschitz HNN never learns (dotted curve), for all 27 grid points. Gradients were checked against float64 finite differences, so this is representational: a ReLU Hamiltonian has a piecewise-constant gradient. Smooth activations fix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Light bars: paper setting; dark bars: selected configuration, 3 seeds. Tuning also improves the baseline: the HNN reaches 0.0015, three times better than the paper. N-ODE: the bilipschitz embedder is on par with the tuned baseline (0.0056 vs 0.0058). HNN: bilipschitz stays about 5 times worse on clean data.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Noise with standard deviation sigma times the per-coordinate scale is added to every training state; test data stay clean. Dotted lines are the control: the inner-product model trained with the hyperparameters selected for the bilipschitz model.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Bars: relative change of the rollout error, bilipschitz versus inner product with identical hyperparameters, 3 seeds each. Apart from the -4 percent point, all differences exceed two standard deviations.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Summary: the bilipschitz embedder helps the Neural ODE, especially with noisy data, and needs care for the HNN. Code, results and the overview folder are in the repository.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37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Test bilipschitz embedder effect for Equivariant-MLP</a:t>
            </a:r>
            <a:endParaRPr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59500" y="2834125"/>
            <a:ext cx="7872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Capstone project-Yi Lu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55450" y="3841600"/>
            <a:ext cx="7698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github link: https://github.com/Louis-26/bilipschitz_scalars_EML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reproduce</a:t>
            </a:r>
            <a:r>
              <a:rPr lang="en"/>
              <a:t> the results from </a:t>
            </a:r>
            <a:r>
              <a:rPr lang="en"/>
              <a:t>Yao et al. (2021): scalar-based HNN and Neural ODE on the springy double pendulum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Stage 2: Apply bilipschitz embedder, </a:t>
            </a:r>
            <a:r>
              <a:rPr lang="en"/>
              <a:t>i.e. replace the Gram matrix XXᵀ of the scalar features by its square root (XXᵀ)^(1/2), then tune hyperparameters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Stage 3: Add white noise/adversarial attack</a:t>
            </a:r>
            <a:r>
              <a:rPr lang="en"/>
              <a:t>: Gaussian noise on the training data and on test initial conditions (adversarial attack: next step)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Problem setting: learning the springy double pendulum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1000"/>
              </a:spcAft>
              <a:buChar char="•"/>
            </a:pPr>
            <a:r>
              <a:rPr sz="1300" b="0" i="0">
                <a:solidFill>
                  <a:srgbClr val="0B0B0B"/>
                </a:solidFill>
                <a:latin typeface="Arial"/>
              </a:rPr>
              <a:t>State z = (q₁, q₂, p₁, p₂) ∈ (ℝ³)⁴, gravity g = (0, 0, −1); all masses, stiffnesses and lengths = 1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300" b="0" i="0">
                <a:solidFill>
                  <a:srgbClr val="0B0B0B"/>
                </a:solidFill>
                <a:latin typeface="Arial"/>
              </a:rPr>
              <a:t>5000 simulated trajectories; train / val / test = 500 / 500 / 500 chunks of 5 steps (Δt = 0.2)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300" b="0" i="0">
                <a:solidFill>
                  <a:srgbClr val="0B0B0B"/>
                </a:solidFill>
                <a:latin typeface="Arial"/>
              </a:rPr>
              <a:t>HNN: MLP → H(z), dynamics J∇H.  N-ODE: MLP → 24 invariant coefficients of an equivariant field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300" b="0" i="0">
                <a:solidFill>
                  <a:srgbClr val="0B0B0B"/>
                </a:solidFill>
                <a:latin typeface="Arial"/>
              </a:rPr>
              <a:t>Metric: geometric mean of the state relative error over 150-step rollouts (paper Table 1)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5029200" y="1234440"/>
          <a:ext cx="3657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59436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Arial"/>
                        </a:rPr>
                        <a:t>30 invariant scalars</a:t>
                      </a:r>
                    </a:p>
                  </a:txBody>
                  <a:tcPr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F3F3F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norms ‖uᵢ‖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B6834"/>
                          </a:solidFill>
                          <a:latin typeface="Arial"/>
                        </a:rPr>
                        <a:t>Gram uᵢᵀuⱼ  →  bilipschitz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B683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gravity gᵀuᵢ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spring 2: |q₁−q₂|², |q₁−q₂|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(q₁−q₂)ᵀuᵢ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u = (q₁, q₂, p₁, p₂). Only the orange block changes between the two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t>Bilipschitz embedder: θ(X) = (XXᵀ)^(1/2)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B0B0B"/>
                </a:solidFill>
                <a:latin typeface="Arial"/>
              </a:rPr>
              <a:t>Balan &amp; Dock (2022): </a:t>
            </a:r>
            <a:r>
              <a:rPr sz="1300" b="0" i="0">
                <a:solidFill>
                  <a:srgbClr val="0B0B0B"/>
                </a:solidFill>
                <a:latin typeface="Arial"/>
              </a:rPr>
              <a:t>D(X,Y) ≤ ‖θ(X) − θ(Y)‖ ≤ √2 · D(X,Y),  D = minᵤ ‖X − YU‖ (Procrustes distance)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B0B0B"/>
                </a:solidFill>
                <a:latin typeface="Arial"/>
              </a:rPr>
              <a:t>Gram XXᵀ has no such bound: </a:t>
            </a:r>
            <a:r>
              <a:rPr sz="1300" b="0" i="0">
                <a:solidFill>
                  <a:srgbClr val="0B0B0B"/>
                </a:solidFill>
                <a:latin typeface="Arial"/>
              </a:rPr>
              <a:t>ratio from 1.2 to 8 on random pairs (right)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B0B0B"/>
                </a:solidFill>
                <a:latin typeface="Arial"/>
              </a:rPr>
              <a:t>Implementation: </a:t>
            </a:r>
            <a:r>
              <a:rPr sz="1300" b="0" i="0">
                <a:solidFill>
                  <a:srgbClr val="0B0B0B"/>
                </a:solidFill>
                <a:latin typeface="Arial"/>
              </a:rPr>
              <a:t>thin SVD X = UΣVᵀ ⇒ θ(X) = UΣUᵀ. Pure JAX, exact, twice differentiable (HNN training needs 2nd derivatives)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B0B0B"/>
                </a:solidFill>
                <a:latin typeface="Arial"/>
              </a:rPr>
              <a:t>Fixed: </a:t>
            </a:r>
            <a:r>
              <a:rPr sz="1300" b="0" i="0">
                <a:solidFill>
                  <a:srgbClr val="0B0B0B"/>
                </a:solidFill>
                <a:latin typeface="Arial"/>
              </a:rPr>
              <a:t>the earlier torch version crashed inside jax.grad, so no bilipschitz model had actually been trained</a:t>
            </a:r>
          </a:p>
        </p:txBody>
      </p:sp>
      <p:pic>
        <p:nvPicPr>
          <p:cNvPr id="75" name="Picture 74" descr="bilip_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4206240" cy="2451597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572000" y="3777477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200 000 random + 200 000 nearby pairs X, Y ∈ ℝ⁴ˣ³: all ratios in [1.0004, 1.409]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Scalars are universal: Equivariant machine learning, structured like classical physics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https://arxiv.org/pdf/2106.06610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simple equivariant machine learning method for dynamics based on scalars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https://arxiv.org/pdf/2110.03761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Lipschitz Analysis Of Generalized Phase Retrievable Matrix Frames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https://arxiv.org/pdf/2109.14522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Github: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2328"/>
                </a:solidFill>
                <a:highlight>
                  <a:srgbClr val="FFFFFF"/>
                </a:highlight>
              </a:rPr>
              <a:t>Scalar-based multi-layer perceptron models - </a:t>
            </a:r>
            <a:r>
              <a:rPr lang="en"/>
              <a:t>https://github.com/weichiyao/ScalarEMLP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Practical Method for Constructing Equivariant Multilayer Perceptrons for Arbitrary Matrix Groups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https://github.com/mfinzi/equivariant-MLP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reproducing Yao et al. (2021), Table 1</a:t>
            </a:r>
          </a:p>
        </p:txBody>
      </p:sp>
      <p:pic>
        <p:nvPicPr>
          <p:cNvPr id="3" name="Picture 2" descr="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29885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1234440"/>
            <a:ext cx="2743200" cy="102412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08192" y="1325880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0.0104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8192" y="1837944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Arial"/>
              </a:rPr>
              <a:t>N-ODE, ours (paper 0.009 ± 0.001): within 1 std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468880"/>
            <a:ext cx="2743200" cy="102412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2" y="2560320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0.0092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192" y="3072384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Arial"/>
              </a:rPr>
              <a:t>HNN, ours (paper 0.005 ± 0.002): within 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033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Upstream setting (3 × 100, lr 5e-3, 2000 epochs), 3 seeds. Needed: restoring the upstream Hamiltonian (k₂ instead of ½k₂) and regenerating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the HNN needs a smooth activation</a:t>
            </a:r>
          </a:p>
        </p:txBody>
      </p:sp>
      <p:pic>
        <p:nvPicPr>
          <p:cNvPr id="3" name="Picture 2" descr="relu_vs_smo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3136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234440"/>
            <a:ext cx="2926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B0B0B"/>
                </a:solidFill>
                <a:latin typeface="Arial"/>
              </a:rPr>
              <a:t>ReLU: </a:t>
            </a:r>
            <a:r>
              <a:rPr sz="1200" b="0" i="0">
                <a:solidFill>
                  <a:srgbClr val="0B0B0B"/>
                </a:solidFill>
                <a:latin typeface="Arial"/>
              </a:rPr>
              <a:t>H is piecewise linear in the scalars, so the vector field J∇H is piecewise constant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B0B0B"/>
                </a:solidFill>
                <a:latin typeface="Arial"/>
              </a:rPr>
              <a:t>Inner product: </a:t>
            </a:r>
            <a:r>
              <a:rPr sz="1200" b="0" i="0">
                <a:solidFill>
                  <a:srgbClr val="0B0B0B"/>
                </a:solidFill>
                <a:latin typeface="Arial"/>
              </a:rPr>
              <a:t>the true H is exactly linear in the scalars (½|p|² is a Gram entry), ReLU is harmless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B0B0B"/>
                </a:solidFill>
                <a:latin typeface="Arial"/>
              </a:rPr>
              <a:t>Square root: </a:t>
            </a:r>
            <a:r>
              <a:rPr sz="1200" b="0" i="0">
                <a:solidFill>
                  <a:srgbClr val="0B0B0B"/>
                </a:solidFill>
                <a:latin typeface="Arial"/>
              </a:rPr>
              <a:t>|p|² becomes quadratic → loss plateau, rollout error 0.32 for every size / lr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EB6834"/>
                </a:solidFill>
                <a:latin typeface="Arial"/>
              </a:rPr>
              <a:t>SiLU / softplus: </a:t>
            </a:r>
            <a:r>
              <a:rPr sz="1200" b="1" i="0">
                <a:solidFill>
                  <a:srgbClr val="EB6834"/>
                </a:solidFill>
                <a:latin typeface="Arial"/>
              </a:rPr>
              <a:t>0.32 → 0.0074 (43× better)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hyperparameter search (212 runs)</a:t>
            </a:r>
          </a:p>
        </p:txBody>
      </p:sp>
      <p:pic>
        <p:nvPicPr>
          <p:cNvPr id="3" name="Picture 2" descr="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94" y="1143000"/>
            <a:ext cx="588681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702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Selection on the validation rollout; test numbers only reported.  </a:t>
            </a:r>
            <a:r>
              <a:rPr sz="1000" b="1" i="0">
                <a:solidFill>
                  <a:srgbClr val="52514E"/>
                </a:solidFill>
                <a:latin typeface="Arial"/>
              </a:rPr>
              <a:t>Search: </a:t>
            </a:r>
            <a:r>
              <a:rPr sz="1000" b="0" i="0">
                <a:solidFill>
                  <a:srgbClr val="52514E"/>
                </a:solidFill>
                <a:latin typeface="Arial"/>
              </a:rPr>
              <a:t>depth {3, 5, 7} × width {100–300} × lr {3e-3 – 5e-2} × activation {ReLU, SiLU, softplus, tanh} × RBF width.  </a:t>
            </a:r>
            <a:r>
              <a:rPr sz="1000" b="1" i="0">
                <a:solidFill>
                  <a:srgbClr val="52514E"/>
                </a:solidFill>
                <a:latin typeface="Arial"/>
              </a:rPr>
              <a:t>Selected: </a:t>
            </a:r>
            <a:r>
              <a:rPr sz="1000" b="0" i="0">
                <a:solidFill>
                  <a:srgbClr val="52514E"/>
                </a:solidFill>
                <a:latin typeface="Arial"/>
              </a:rPr>
              <a:t>HNN inner 3-100-0.03 ReLU · HNN bilip 3-200-0.02 SiLU · N-ODE inner 7-200-0.02 · N-ODE bilip 7-200-0.005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Gaussian noise on the training data</a:t>
            </a:r>
          </a:p>
        </p:txBody>
      </p:sp>
      <p:pic>
        <p:nvPicPr>
          <p:cNvPr id="3" name="Picture 2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90" y="1097280"/>
            <a:ext cx="6961219" cy="31546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43399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EB6834"/>
                </a:solidFill>
                <a:latin typeface="Arial"/>
              </a:rPr>
              <a:t>N-ODE: </a:t>
            </a:r>
            <a:r>
              <a:rPr sz="1100" b="0" i="0">
                <a:solidFill>
                  <a:srgbClr val="0B0B0B"/>
                </a:solidFill>
                <a:latin typeface="Arial"/>
              </a:rPr>
              <a:t>bilipschitz is best at every noise level.   </a:t>
            </a:r>
            <a:r>
              <a:rPr sz="1100" b="1" i="0">
                <a:solidFill>
                  <a:srgbClr val="0B0B0B"/>
                </a:solidFill>
                <a:latin typeface="Arial"/>
              </a:rPr>
              <a:t>HNN: </a:t>
            </a:r>
            <a:r>
              <a:rPr sz="1100" b="0" i="0">
                <a:solidFill>
                  <a:srgbClr val="0B0B0B"/>
                </a:solidFill>
                <a:latin typeface="Arial"/>
              </a:rPr>
              <a:t>the tuned ReLU inner product stays best, but the bilipschitz model degrades more slowly than the inner product with the same configuration (dotted).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hyperparameters: embedding effect alone</a:t>
            </a:r>
          </a:p>
        </p:txBody>
      </p:sp>
      <p:pic>
        <p:nvPicPr>
          <p:cNvPr id="3" name="Picture 2" descr="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94960" cy="27502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26480" y="1234440"/>
            <a:ext cx="2560320" cy="102412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91072" y="1325880"/>
            <a:ext cx="2231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−39 %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837944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Arial"/>
              </a:rPr>
              <a:t>N-ODE error at σ = 0.03 (−15 to −39 % at every level)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468880"/>
            <a:ext cx="2560320" cy="102412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2560320"/>
            <a:ext cx="22311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−32 %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3072384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Arial"/>
              </a:rPr>
              <a:t>HNN error at σ = 0.1 (but +23 % on clean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0332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2514E"/>
                </a:solidFill>
                <a:latin typeface="Arial"/>
              </a:rPr>
              <a:t>Perturbing test initial conditions instead shows no difference: that error is dominated by the chaotic dynamics.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120640" cy="306324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0B0B"/>
                </a:solidFill>
                <a:latin typeface="Arial"/>
              </a:rPr>
              <a:t>Findings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Paper reproduced: N-ODE within 1 std, HNN within 2×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N-ODE: bilipschitz scalars match the tuned baseline on clean data and cut the error by 15–39 % under training noise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HNN: needs a smooth activation; 5× worse on clean data (the true H is linear in inner products) but more robust at high noise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Initial-condition perturbations: no effect of the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188720"/>
            <a:ext cx="2834640" cy="306324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80760" y="1325880"/>
            <a:ext cx="2377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B0B0B"/>
                </a:solidFill>
                <a:latin typeface="Arial"/>
              </a:rPr>
              <a:t>Next steps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Adversarial attack on initial conditions / training data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Embeddings that keep the linear structure (add squared norms back, θ on a sub-block)</a:t>
            </a:r>
          </a:p>
          <a:p>
            <a:pPr algn="l" marL="182880" indent="-182880">
              <a:spcAft>
                <a:spcPts val="1000"/>
              </a:spcAft>
              <a:buChar char="•"/>
            </a:pPr>
            <a:r>
              <a:rPr sz="1400" b="0" i="0">
                <a:solidFill>
                  <a:srgbClr val="0B0B0B"/>
                </a:solidFill>
                <a:latin typeface="Arial"/>
              </a:rPr>
              <a:t>More data seeds and physical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